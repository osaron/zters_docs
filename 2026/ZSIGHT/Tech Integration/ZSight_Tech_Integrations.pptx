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37A"/>
    <a:srgbClr val="DCFCE7"/>
    <a:srgbClr val="D67400"/>
    <a:srgbClr val="FEF3C7"/>
    <a:srgbClr val="7FE9A5"/>
    <a:srgbClr val="B45E38"/>
    <a:srgbClr val="FCD15D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7DAE-4E52-D61D-046C-5CAE9A59D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BD307-F51D-D922-1FB0-6CA90124E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DBDF-80B1-55C7-67CD-10D3204F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43E3-4261-C266-8369-562070D3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222B4-A0FE-EC55-F5C5-D3ABFF9A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3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A437-C2E4-7DC2-AA59-71B06A01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053D-4223-1047-D7E9-031231ACB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EE27-2B4F-3C9D-A342-BBA2CAA2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1D5C-DC2F-1757-AF4C-21BFF1CF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DC0B-392A-31DC-6ACD-3CDCB899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1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C133-5663-A148-A391-92F6546E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0B03-F595-2E12-14EA-A16FEBA0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1E71-A8F4-8AA5-40D1-9CF9E236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8C3B-2F17-4169-FB56-D5D53225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8B8F-A87E-CAAB-3702-4F647564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ADDD-53C2-B5AA-6577-D5052A9A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CC6A-1162-C077-5137-D4ABD914E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72674-D5DE-3D62-96F7-DF46F8339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CA6E-C165-D63B-4E17-63F0769F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E7280-3B9E-4B70-02C0-2AA5E64D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B99EE-54A5-6631-EE02-15B3006D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0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E613-1341-8B96-AF05-3E95E7A2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DF9C-9DE0-A292-4FD1-06EA24BC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F815-3669-A530-BF61-876AE9D39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92280-35D1-297C-767B-85B2604A1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B636-7A61-3D9E-A5E5-6642E56D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7EBD4-0CBD-3EB9-98F4-DC04151A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4B485-A2AD-0CF7-102E-BB359395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AC1AB-4187-9D36-0429-67C138EB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2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2E14-5D10-1547-EFC8-428DC462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C72E2-0AFF-3E6B-DB2F-010A5CD0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9CDB0-8C26-441D-4190-1E12A5CB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A243D-7CBD-B0AD-4994-F677C353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0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10F3A-62F7-37D4-578D-1C6E1C14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55D25-DD44-0C7D-6B6E-829A22B4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1E97-1492-4DF5-BF7E-EC608ECE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7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E1F3-8A36-C66A-8E55-5E48A516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5C48-CF8D-52B3-D814-4EA8EC4D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CCEF5-720E-7CE9-42DD-E30AC798D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C5A51-1076-D454-F353-38A4F822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F951-2210-6667-0376-5E1EFCAC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613E-0F5E-177B-3F28-A3B5C03C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1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A24C-FE23-A4E2-F02B-5257AACF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6D728-C065-77FB-CCB2-C21B09321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B7AFB-3BB7-B38D-63CF-C161E26B8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2CCC1-EF77-441A-CE5D-B1E94C2B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2B4B-663E-0997-48A0-C718E9B5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7327-EE55-E9D3-F41F-61B4E2E4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2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8B33-E598-B7C5-FE6E-C9510E76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FCB15-B58A-D1E5-1562-BADDEFF4E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0242-803A-5117-D773-6391BDA8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09A2-9302-D45B-C67A-FE592622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2CBD1-A24B-7A3F-7AB5-09CC3977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A3D8C-78FF-BAF3-AA12-7AB31EBC5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EB0D2-3517-BE8F-3AD4-EB4B52EC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5742-871E-1C60-AFD9-A40DB3047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92065-4AF0-2B9D-06F6-3EA31573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0F5B2-92E3-6683-642B-F00F88B8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5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1BAB9-0C8F-A72B-7B2B-AACE69D5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982E4-0AE1-3AE6-8E9C-BD0003A0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92761-F952-6DED-DC95-913ABDBC4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E7F5B-AFE7-4042-8415-531488EBC1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3BFAA-D0C0-2E4B-F61C-359636CDD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71F7-A5F5-59FF-F0ED-65D5C3631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0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BFAC-A424-8FB0-6C82-84A72DAF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FA4028-D958-F200-AE55-128DE219FDCB}"/>
              </a:ext>
            </a:extLst>
          </p:cNvPr>
          <p:cNvSpPr/>
          <p:nvPr/>
        </p:nvSpPr>
        <p:spPr>
          <a:xfrm>
            <a:off x="525780" y="1245859"/>
            <a:ext cx="1371602" cy="1748802"/>
          </a:xfrm>
          <a:prstGeom prst="roundRect">
            <a:avLst/>
          </a:prstGeom>
          <a:solidFill>
            <a:srgbClr val="DCFCE7"/>
          </a:solidFill>
          <a:ln>
            <a:solidFill>
              <a:srgbClr val="0B8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Source</a:t>
            </a:r>
          </a:p>
          <a:p>
            <a:pPr algn="ctr"/>
            <a:endParaRPr lang="en-US" sz="1050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rgbClr val="0B837A"/>
                </a:solidFill>
              </a:rPr>
              <a:t>QuickBase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zters.quickbase.com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Hauler Quotes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Customers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Sites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Vendors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Front Loads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F604E3-4448-DA51-126F-4DD9B6B4D0B0}"/>
              </a:ext>
            </a:extLst>
          </p:cNvPr>
          <p:cNvSpPr/>
          <p:nvPr/>
        </p:nvSpPr>
        <p:spPr>
          <a:xfrm>
            <a:off x="2317375" y="1245859"/>
            <a:ext cx="1713606" cy="7201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err="1">
                <a:solidFill>
                  <a:schemeClr val="tx1"/>
                </a:solidFill>
              </a:rPr>
              <a:t>ZTERS</a:t>
            </a:r>
            <a:r>
              <a:rPr lang="en-US" sz="1100" b="1" dirty="0">
                <a:solidFill>
                  <a:schemeClr val="tx1"/>
                </a:solidFill>
              </a:rPr>
              <a:t> API - Temporary</a:t>
            </a:r>
          </a:p>
          <a:p>
            <a:r>
              <a:rPr lang="en-US" sz="900" dirty="0">
                <a:solidFill>
                  <a:schemeClr val="tx1"/>
                </a:solidFill>
              </a:rPr>
              <a:t>/accounts/</a:t>
            </a:r>
            <a:r>
              <a:rPr lang="en-US" sz="900" dirty="0" err="1">
                <a:solidFill>
                  <a:schemeClr val="tx1"/>
                </a:solidFill>
              </a:rPr>
              <a:t>zters</a:t>
            </a:r>
            <a:endParaRPr lang="en-US" sz="900" dirty="0">
              <a:solidFill>
                <a:schemeClr val="tx1"/>
              </a:solidFill>
            </a:endParaRP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Hauler Quote </a:t>
            </a:r>
            <a:r>
              <a:rPr lang="en-US" sz="800" dirty="0" err="1">
                <a:solidFill>
                  <a:schemeClr val="tx1"/>
                </a:solidFill>
              </a:rPr>
              <a:t>upsert</a:t>
            </a:r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X-AUTH-TOKEN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CAB650-9B6E-A928-6F5D-F67BB1E9AEBF}"/>
              </a:ext>
            </a:extLst>
          </p:cNvPr>
          <p:cNvSpPr/>
          <p:nvPr/>
        </p:nvSpPr>
        <p:spPr>
          <a:xfrm>
            <a:off x="2317375" y="2274559"/>
            <a:ext cx="1713606" cy="7201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ZSIGHT API - GENERIC</a:t>
            </a:r>
          </a:p>
          <a:p>
            <a:r>
              <a:rPr lang="en-US" sz="900" dirty="0">
                <a:solidFill>
                  <a:schemeClr val="tx1"/>
                </a:solidFill>
              </a:rPr>
              <a:t>/v1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Entity updates x4</a:t>
            </a:r>
          </a:p>
          <a:p>
            <a:r>
              <a:rPr lang="en-US" sz="800" dirty="0">
                <a:solidFill>
                  <a:schemeClr val="tx1"/>
                </a:solidFill>
              </a:rPr>
              <a:t>X-AUTH-TOKEN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AE0B67-9C0C-1A11-5333-4EC9DB793EE6}"/>
              </a:ext>
            </a:extLst>
          </p:cNvPr>
          <p:cNvSpPr/>
          <p:nvPr/>
        </p:nvSpPr>
        <p:spPr>
          <a:xfrm>
            <a:off x="4450974" y="779134"/>
            <a:ext cx="1766946" cy="2682251"/>
          </a:xfrm>
          <a:prstGeom prst="roundRect">
            <a:avLst/>
          </a:prstGeom>
          <a:solidFill>
            <a:srgbClr val="FEF3C7"/>
          </a:solidFill>
          <a:ln>
            <a:solidFill>
              <a:srgbClr val="D67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Platform</a:t>
            </a:r>
          </a:p>
          <a:p>
            <a:pPr algn="ctr"/>
            <a:endParaRPr lang="en-US" sz="1050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rgbClr val="D67400"/>
                </a:solidFill>
              </a:rPr>
              <a:t>ZSight Tech</a:t>
            </a:r>
          </a:p>
          <a:p>
            <a:pPr algn="ctr"/>
            <a:r>
              <a:rPr lang="en-US" sz="900" dirty="0" err="1">
                <a:solidFill>
                  <a:schemeClr val="tx1"/>
                </a:solidFill>
              </a:rPr>
              <a:t>api.zsight.tech</a:t>
            </a:r>
            <a:endParaRPr lang="en-US" sz="900" dirty="0">
              <a:solidFill>
                <a:schemeClr val="tx1"/>
              </a:solidFill>
            </a:endParaRPr>
          </a:p>
          <a:p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Containers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Assets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Customers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Sites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Vendors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Products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Devices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Work Orders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2F13B8-275F-280C-F57E-D95BB5C3DF17}"/>
              </a:ext>
            </a:extLst>
          </p:cNvPr>
          <p:cNvSpPr/>
          <p:nvPr/>
        </p:nvSpPr>
        <p:spPr>
          <a:xfrm>
            <a:off x="4595693" y="2827020"/>
            <a:ext cx="1477507" cy="4495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EXTENSION</a:t>
            </a:r>
          </a:p>
          <a:p>
            <a:r>
              <a:rPr lang="en-US" sz="900" dirty="0">
                <a:solidFill>
                  <a:schemeClr val="tx1"/>
                </a:solidFill>
              </a:rPr>
              <a:t>app/Extensions/</a:t>
            </a:r>
            <a:r>
              <a:rPr lang="en-US" sz="900" dirty="0" err="1">
                <a:solidFill>
                  <a:schemeClr val="tx1"/>
                </a:solidFill>
              </a:rPr>
              <a:t>Zters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CFAAF7-FACE-C4A2-7DBE-1000172B2B19}"/>
              </a:ext>
            </a:extLst>
          </p:cNvPr>
          <p:cNvSpPr/>
          <p:nvPr/>
        </p:nvSpPr>
        <p:spPr>
          <a:xfrm>
            <a:off x="6637913" y="1245859"/>
            <a:ext cx="1713606" cy="17488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TAGO API </a:t>
            </a:r>
          </a:p>
          <a:p>
            <a:r>
              <a:rPr lang="en-US" sz="900" dirty="0">
                <a:solidFill>
                  <a:schemeClr val="tx1"/>
                </a:solidFill>
              </a:rPr>
              <a:t>/</a:t>
            </a:r>
            <a:r>
              <a:rPr lang="en-US" sz="900" dirty="0" err="1">
                <a:solidFill>
                  <a:schemeClr val="tx1"/>
                </a:solidFill>
              </a:rPr>
              <a:t>tago</a:t>
            </a:r>
            <a:endParaRPr lang="en-US" sz="900" dirty="0">
              <a:solidFill>
                <a:schemeClr val="tx1"/>
              </a:solidFill>
            </a:endParaRP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SENDER</a:t>
            </a:r>
          </a:p>
          <a:p>
            <a:r>
              <a:rPr lang="en-US" sz="800" dirty="0">
                <a:solidFill>
                  <a:schemeClr val="tx1"/>
                </a:solidFill>
              </a:rPr>
              <a:t>Asset Registration</a:t>
            </a:r>
          </a:p>
          <a:p>
            <a:r>
              <a:rPr lang="en-US" sz="800" dirty="0">
                <a:solidFill>
                  <a:schemeClr val="tx1"/>
                </a:solidFill>
              </a:rPr>
              <a:t>Service Update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RECEIVER</a:t>
            </a:r>
          </a:p>
          <a:p>
            <a:r>
              <a:rPr lang="en-US" sz="800" dirty="0">
                <a:solidFill>
                  <a:schemeClr val="tx1"/>
                </a:solidFill>
              </a:rPr>
              <a:t>ACK messages</a:t>
            </a:r>
          </a:p>
          <a:p>
            <a:r>
              <a:rPr lang="en-US" sz="800" dirty="0">
                <a:solidFill>
                  <a:schemeClr val="tx1"/>
                </a:solidFill>
              </a:rPr>
              <a:t>Monitor Feed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X-TAGO-TOKEN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321A63-F047-5500-DB49-1780E03CE82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897382" y="160591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0A7EDB-CDC5-F08D-E43B-12BD65883AA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897382" y="263461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67A218-06C3-8E50-1ACD-9B859374D5E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030981" y="263461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D49C7B-A49A-3D00-0CA4-03D8BD251B1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030981" y="160591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999AED-00D0-EB52-E4B2-59B805ACD7AB}"/>
              </a:ext>
            </a:extLst>
          </p:cNvPr>
          <p:cNvCxnSpPr>
            <a:cxnSpLocks/>
          </p:cNvCxnSpPr>
          <p:nvPr/>
        </p:nvCxnSpPr>
        <p:spPr>
          <a:xfrm>
            <a:off x="6217920" y="160591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399670-A314-50C5-8BE7-70E6B764D73C}"/>
              </a:ext>
            </a:extLst>
          </p:cNvPr>
          <p:cNvCxnSpPr>
            <a:cxnSpLocks/>
          </p:cNvCxnSpPr>
          <p:nvPr/>
        </p:nvCxnSpPr>
        <p:spPr>
          <a:xfrm flipH="1">
            <a:off x="6217920" y="260222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FC2A69B-BC0A-F2B6-2926-16D7C398F2B0}"/>
              </a:ext>
            </a:extLst>
          </p:cNvPr>
          <p:cNvSpPr/>
          <p:nvPr/>
        </p:nvSpPr>
        <p:spPr>
          <a:xfrm>
            <a:off x="8771512" y="1245859"/>
            <a:ext cx="1766948" cy="17488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Device Provider</a:t>
            </a:r>
          </a:p>
          <a:p>
            <a:pPr algn="ctr"/>
            <a:endParaRPr lang="en-US" sz="1050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Tago / </a:t>
            </a:r>
            <a:r>
              <a:rPr lang="en-US" sz="1100" b="1" dirty="0" err="1">
                <a:solidFill>
                  <a:srgbClr val="0070C0"/>
                </a:solidFill>
              </a:rPr>
              <a:t>BitGear</a:t>
            </a:r>
            <a:endParaRPr lang="en-US" sz="1100" b="1" dirty="0">
              <a:solidFill>
                <a:srgbClr val="0070C0"/>
              </a:solidFill>
            </a:endParaRPr>
          </a:p>
          <a:p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Asset registry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Monitors, firmware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Telemetry and events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Pickup schedules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All accounts, not only </a:t>
            </a:r>
            <a:r>
              <a:rPr lang="en-US" sz="900" dirty="0" err="1">
                <a:solidFill>
                  <a:schemeClr val="tx1"/>
                </a:solidFill>
              </a:rPr>
              <a:t>ZTERS</a:t>
            </a:r>
            <a:endParaRPr lang="en-US" sz="900" dirty="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BC59AB-7BB9-C32E-8AFC-30792D5005C4}"/>
              </a:ext>
            </a:extLst>
          </p:cNvPr>
          <p:cNvCxnSpPr>
            <a:cxnSpLocks/>
          </p:cNvCxnSpPr>
          <p:nvPr/>
        </p:nvCxnSpPr>
        <p:spPr>
          <a:xfrm>
            <a:off x="8351519" y="159638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BF6416-0E81-917B-4718-E892D9C41911}"/>
              </a:ext>
            </a:extLst>
          </p:cNvPr>
          <p:cNvCxnSpPr>
            <a:cxnSpLocks/>
          </p:cNvCxnSpPr>
          <p:nvPr/>
        </p:nvCxnSpPr>
        <p:spPr>
          <a:xfrm flipH="1">
            <a:off x="8351519" y="2602220"/>
            <a:ext cx="41999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A44E134-4A68-04A8-702C-161311A5B2E5}"/>
              </a:ext>
            </a:extLst>
          </p:cNvPr>
          <p:cNvSpPr/>
          <p:nvPr/>
        </p:nvSpPr>
        <p:spPr>
          <a:xfrm>
            <a:off x="8680072" y="3461385"/>
            <a:ext cx="1949828" cy="693429"/>
          </a:xfrm>
          <a:prstGeom prst="roundRect">
            <a:avLst/>
          </a:prstGeom>
          <a:solidFill>
            <a:srgbClr val="FEF3C7"/>
          </a:solidFill>
          <a:ln>
            <a:solidFill>
              <a:srgbClr val="D67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Field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rgbClr val="D67400"/>
                </a:solidFill>
              </a:rPr>
              <a:t>ZSight Mobile App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Technician installs the device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7388659-B5E7-852F-C027-D64B2CEF1E84}"/>
              </a:ext>
            </a:extLst>
          </p:cNvPr>
          <p:cNvCxnSpPr>
            <a:cxnSpLocks/>
            <a:stCxn id="52" idx="0"/>
            <a:endCxn id="45" idx="2"/>
          </p:cNvCxnSpPr>
          <p:nvPr/>
        </p:nvCxnSpPr>
        <p:spPr>
          <a:xfrm flipV="1">
            <a:off x="9654986" y="2994661"/>
            <a:ext cx="0" cy="466724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450867-B35B-4B03-A368-6C8F0BBB0222}"/>
              </a:ext>
            </a:extLst>
          </p:cNvPr>
          <p:cNvCxnSpPr>
            <a:cxnSpLocks/>
            <a:stCxn id="12" idx="2"/>
            <a:endCxn id="55" idx="2"/>
          </p:cNvCxnSpPr>
          <p:nvPr/>
        </p:nvCxnSpPr>
        <p:spPr>
          <a:xfrm rot="5400000" flipH="1">
            <a:off x="3039652" y="1166590"/>
            <a:ext cx="466724" cy="4122866"/>
          </a:xfrm>
          <a:prstGeom prst="bentConnector3">
            <a:avLst>
              <a:gd name="adj1" fmla="val -132245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579CEA7-82C4-2352-034B-71AC6A6105D7}"/>
              </a:ext>
            </a:extLst>
          </p:cNvPr>
          <p:cNvSpPr txBox="1"/>
          <p:nvPr/>
        </p:nvSpPr>
        <p:spPr>
          <a:xfrm>
            <a:off x="9654986" y="3104912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C00C36-9905-8462-6A09-59E7CDA85D2B}"/>
              </a:ext>
            </a:extLst>
          </p:cNvPr>
          <p:cNvSpPr txBox="1"/>
          <p:nvPr/>
        </p:nvSpPr>
        <p:spPr>
          <a:xfrm>
            <a:off x="1652306" y="3808099"/>
            <a:ext cx="3043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Outbound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– The only write back to QuickBase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ECD9D7-038C-C3ED-9C0A-4D8EBE7E2E48}"/>
              </a:ext>
            </a:extLst>
          </p:cNvPr>
          <p:cNvSpPr txBox="1"/>
          <p:nvPr/>
        </p:nvSpPr>
        <p:spPr>
          <a:xfrm>
            <a:off x="1843870" y="482667"/>
            <a:ext cx="2660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Inbound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– QuickBase writes into ZSight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C5764F-E6C9-7426-6465-9D905A0CF26E}"/>
              </a:ext>
            </a:extLst>
          </p:cNvPr>
          <p:cNvSpPr txBox="1"/>
          <p:nvPr/>
        </p:nvSpPr>
        <p:spPr>
          <a:xfrm>
            <a:off x="7231208" y="482667"/>
            <a:ext cx="2660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Two-Way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– ZSight and Tago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8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123</Words>
  <Application>Microsoft Office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Rondon</dc:creator>
  <cp:lastModifiedBy>Oscar Rondon</cp:lastModifiedBy>
  <cp:revision>24</cp:revision>
  <dcterms:created xsi:type="dcterms:W3CDTF">2026-08-02T02:04:43Z</dcterms:created>
  <dcterms:modified xsi:type="dcterms:W3CDTF">2026-09-22T00:31:46Z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9db4c6-4825-4e41-b058-57288389a6b5_Enabled">
    <vt:lpwstr>true</vt:lpwstr>
  </property>
  <property fmtid="{D5CDD505-2E9C-101B-9397-08002B2CF9AE}" pid="3" name="MSIP_Label_629db4c6-4825-4e41-b058-57288389a6b5_SetDate">
    <vt:lpwstr>2026-09-22T00:15:11Z</vt:lpwstr>
  </property>
  <property fmtid="{D5CDD505-2E9C-101B-9397-08002B2CF9AE}" pid="4" name="MSIP_Label_629db4c6-4825-4e41-b058-57288389a6b5_Method">
    <vt:lpwstr>Standard</vt:lpwstr>
  </property>
  <property fmtid="{D5CDD505-2E9C-101B-9397-08002B2CF9AE}" pid="5" name="MSIP_Label_629db4c6-4825-4e41-b058-57288389a6b5_Name">
    <vt:lpwstr>defa4170-0d19-0005-0004-bc88714345d2</vt:lpwstr>
  </property>
  <property fmtid="{D5CDD505-2E9C-101B-9397-08002B2CF9AE}" pid="6" name="MSIP_Label_629db4c6-4825-4e41-b058-57288389a6b5_SiteId">
    <vt:lpwstr>d110d0d1-d9e5-4bb3-a231-7d8e088eb145</vt:lpwstr>
  </property>
  <property fmtid="{D5CDD505-2E9C-101B-9397-08002B2CF9AE}" pid="7" name="MSIP_Label_629db4c6-4825-4e41-b058-57288389a6b5_ActionId">
    <vt:lpwstr>a333a26a-3dfe-435d-8221-3465e975d2d2</vt:lpwstr>
  </property>
  <property fmtid="{D5CDD505-2E9C-101B-9397-08002B2CF9AE}" pid="8" name="MSIP_Label_629db4c6-4825-4e41-b058-57288389a6b5_ContentBits">
    <vt:lpwstr>0</vt:lpwstr>
  </property>
  <property fmtid="{D5CDD505-2E9C-101B-9397-08002B2CF9AE}" pid="9" name="MSIP_Label_629db4c6-4825-4e41-b058-57288389a6b5_Tag">
    <vt:lpwstr>10, 3, 0, 1</vt:lpwstr>
  </property>
</Properties>
</file>